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65" autoAdjust="0"/>
  </p:normalViewPr>
  <p:slideViewPr>
    <p:cSldViewPr snapToGrid="0" snapToObjects="1">
      <p:cViewPr>
        <p:scale>
          <a:sx n="96" d="100"/>
          <a:sy n="96" d="100"/>
        </p:scale>
        <p:origin x="72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FC1AB-7C37-4E72-9A24-8C873FC449DC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DF97D-8CD0-45E5-A716-4A3318015D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72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DF97D-8CD0-45E5-A716-4A3318015DB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99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2880" y="91440"/>
            <a:ext cx="11795760" cy="640080"/>
          </a:xfrm>
          <a:prstGeom prst="roundRect">
            <a:avLst/>
          </a:prstGeom>
          <a:solidFill>
            <a:srgbClr val="0D1B4C"/>
          </a:solidFill>
          <a:ln>
            <a:solidFill>
              <a:srgbClr val="0D1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3027" y="149870"/>
            <a:ext cx="30123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 sz="2800" b="1" dirty="0">
                <a:solidFill>
                  <a:srgbClr val="FFFFFF"/>
                </a:solidFill>
                <a:latin typeface="+mj-ea"/>
                <a:ea typeface="+mj-ea"/>
              </a:rPr>
              <a:t>⚙開発</a:t>
            </a:r>
            <a:r>
              <a:rPr sz="2800" b="1" dirty="0" err="1">
                <a:solidFill>
                  <a:srgbClr val="FFFFFF"/>
                </a:solidFill>
                <a:latin typeface="+mj-ea"/>
                <a:ea typeface="+mj-ea"/>
              </a:rPr>
              <a:t>リポジトリ</a:t>
            </a:r>
            <a:endParaRPr sz="2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20681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D1B4C"/>
                </a:solidFill>
                <a:latin typeface="+mj-ea"/>
                <a:ea typeface="+mj-ea"/>
              </a:rPr>
              <a:t>1  </a:t>
            </a:r>
            <a:r>
              <a:rPr b="1" dirty="0" err="1">
                <a:solidFill>
                  <a:srgbClr val="0D1B4C"/>
                </a:solidFill>
                <a:latin typeface="+mj-ea"/>
                <a:ea typeface="+mj-ea"/>
              </a:rPr>
              <a:t>リポジトリ情報</a:t>
            </a:r>
            <a:endParaRPr b="1" dirty="0">
              <a:solidFill>
                <a:srgbClr val="0D1B4C"/>
              </a:solidFill>
              <a:latin typeface="+mj-ea"/>
              <a:ea typeface="+mj-e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35040" y="91440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0" y="1005840"/>
            <a:ext cx="9060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D1B4C"/>
                </a:solidFill>
                <a:latin typeface="+mj-ea"/>
                <a:ea typeface="+mj-ea"/>
              </a:rPr>
              <a:t>2  </a:t>
            </a:r>
            <a:r>
              <a:rPr b="1" dirty="0" err="1">
                <a:solidFill>
                  <a:srgbClr val="0D1B4C"/>
                </a:solidFill>
                <a:latin typeface="+mj-ea"/>
                <a:ea typeface="+mj-ea"/>
              </a:rPr>
              <a:t>目的</a:t>
            </a:r>
            <a:endParaRPr b="1" dirty="0">
              <a:solidFill>
                <a:srgbClr val="0D1B4C"/>
              </a:solidFill>
              <a:latin typeface="+mj-ea"/>
              <a:ea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82880" y="2651760"/>
            <a:ext cx="5669280" cy="3291840"/>
          </a:xfrm>
          <a:prstGeom prst="roundRect">
            <a:avLst>
              <a:gd name="adj" fmla="val 9421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9060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D1B4C"/>
                </a:solidFill>
                <a:latin typeface="+mj-ea"/>
                <a:ea typeface="+mj-ea"/>
              </a:rPr>
              <a:t>3  </a:t>
            </a:r>
            <a:r>
              <a:rPr b="1" dirty="0" err="1">
                <a:solidFill>
                  <a:srgbClr val="0D1B4C"/>
                </a:solidFill>
                <a:latin typeface="+mj-ea"/>
                <a:ea typeface="+mj-ea"/>
              </a:rPr>
              <a:t>概要</a:t>
            </a:r>
            <a:endParaRPr b="1" dirty="0">
              <a:solidFill>
                <a:srgbClr val="0D1B4C"/>
              </a:solidFill>
              <a:latin typeface="+mj-ea"/>
              <a:ea typeface="+mj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35040" y="265176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2743200"/>
            <a:ext cx="13708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D1B4C"/>
                </a:solidFill>
                <a:latin typeface="+mj-ea"/>
                <a:ea typeface="+mj-ea"/>
              </a:rPr>
              <a:t>4  </a:t>
            </a:r>
            <a:r>
              <a:rPr lang="ja-JP" altLang="en-US" b="1" dirty="0">
                <a:solidFill>
                  <a:srgbClr val="0D1B4C"/>
                </a:solidFill>
                <a:latin typeface="+mj-ea"/>
                <a:ea typeface="+mj-ea"/>
              </a:rPr>
              <a:t>実現目標</a:t>
            </a:r>
            <a:endParaRPr b="1" dirty="0">
              <a:solidFill>
                <a:srgbClr val="0D1B4C"/>
              </a:solidFill>
              <a:latin typeface="+mj-ea"/>
              <a:ea typeface="+mj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35040" y="438912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4480559"/>
            <a:ext cx="24384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D1B4C"/>
                </a:solidFill>
                <a:latin typeface="+mj-ea"/>
                <a:ea typeface="+mj-ea"/>
              </a:rPr>
              <a:t>5</a:t>
            </a:r>
            <a:r>
              <a:rPr b="1" dirty="0">
                <a:solidFill>
                  <a:srgbClr val="0D1B4C"/>
                </a:solidFill>
                <a:latin typeface="+mj-ea"/>
                <a:ea typeface="+mj-ea"/>
              </a:rPr>
              <a:t> </a:t>
            </a:r>
            <a:r>
              <a:rPr lang="ja-JP" altLang="en-US" b="1" dirty="0">
                <a:solidFill>
                  <a:srgbClr val="0D1B4C"/>
                </a:solidFill>
                <a:latin typeface="+mj-ea"/>
                <a:ea typeface="+mj-ea"/>
              </a:rPr>
              <a:t> 考えられる技術展開</a:t>
            </a:r>
            <a:endParaRPr b="1" dirty="0">
              <a:solidFill>
                <a:srgbClr val="0D1B4C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2447" y="1376307"/>
            <a:ext cx="368081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 sz="1600" dirty="0">
                <a:latin typeface="+mj-ea"/>
                <a:ea typeface="+mj-ea"/>
              </a:rPr>
              <a:t>📁</a:t>
            </a:r>
            <a:r>
              <a:rPr sz="1600" dirty="0" err="1">
                <a:latin typeface="+mj-ea"/>
                <a:ea typeface="+mj-ea"/>
              </a:rPr>
              <a:t>リポジトリ名：</a:t>
            </a:r>
            <a:r>
              <a:rPr lang="en-US" sz="1600" dirty="0" err="1">
                <a:latin typeface="+mj-ea"/>
                <a:ea typeface="+mj-ea"/>
              </a:rPr>
              <a:t>Image-Recognition</a:t>
            </a:r>
            <a:endParaRPr lang="en-US" sz="1600" dirty="0">
              <a:latin typeface="+mj-ea"/>
              <a:ea typeface="+mj-ea"/>
            </a:endParaRPr>
          </a:p>
          <a:p>
            <a:r>
              <a:rPr lang="ja-JP" altLang="en-US" sz="1600" dirty="0">
                <a:latin typeface="+mj-ea"/>
                <a:ea typeface="+mj-ea"/>
              </a:rPr>
              <a:t>👤開発メンバー：水野</a:t>
            </a:r>
            <a:endParaRPr lang="en-US" altLang="ja-JP" sz="1600" dirty="0">
              <a:latin typeface="+mj-ea"/>
              <a:ea typeface="+mj-ea"/>
            </a:endParaRPr>
          </a:p>
          <a:p>
            <a:endParaRPr sz="1600" u="sng" dirty="0">
              <a:latin typeface="+mj-ea"/>
              <a:ea typeface="+mj-ea"/>
            </a:endParaRPr>
          </a:p>
          <a:p>
            <a:r>
              <a:rPr lang="ja-JP" altLang="en-US" sz="1200" dirty="0">
                <a:latin typeface="+mj-ea"/>
                <a:ea typeface="+mj-ea"/>
              </a:rPr>
              <a:t>🔗</a:t>
            </a:r>
            <a:r>
              <a:rPr lang="en-US" sz="1200" dirty="0">
                <a:latin typeface="+mj-ea"/>
                <a:ea typeface="+mj-ea"/>
              </a:rPr>
              <a:t>https://github.com/Mizuno-b/Image-Recognition</a:t>
            </a:r>
            <a:endParaRPr sz="1200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0" y="1405265"/>
            <a:ext cx="244169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latin typeface="+mj-ea"/>
                <a:ea typeface="+mj-ea"/>
              </a:rPr>
              <a:t>・</a:t>
            </a:r>
            <a:r>
              <a:rPr sz="1600" dirty="0" err="1">
                <a:latin typeface="+mj-ea"/>
                <a:ea typeface="+mj-ea"/>
              </a:rPr>
              <a:t>画像認識</a:t>
            </a:r>
            <a:r>
              <a:rPr lang="ja-JP" altLang="en-US" sz="1600" dirty="0">
                <a:latin typeface="+mj-ea"/>
                <a:ea typeface="+mj-ea"/>
              </a:rPr>
              <a:t>技術の獲得</a:t>
            </a:r>
            <a:endParaRPr sz="1600" dirty="0">
              <a:latin typeface="+mj-ea"/>
              <a:ea typeface="+mj-ea"/>
            </a:endParaRPr>
          </a:p>
          <a:p>
            <a:r>
              <a:rPr sz="1600" dirty="0">
                <a:latin typeface="+mj-ea"/>
                <a:ea typeface="+mj-ea"/>
              </a:rPr>
              <a:t>・</a:t>
            </a:r>
            <a:r>
              <a:rPr sz="1600" dirty="0" err="1">
                <a:latin typeface="+mj-ea"/>
                <a:ea typeface="+mj-ea"/>
              </a:rPr>
              <a:t>リアルタイム推論</a:t>
            </a:r>
            <a:r>
              <a:rPr lang="ja-JP" altLang="en-US" sz="1600" dirty="0">
                <a:latin typeface="+mj-ea"/>
                <a:ea typeface="+mj-ea"/>
              </a:rPr>
              <a:t>実装</a:t>
            </a:r>
            <a:endParaRPr sz="1600" dirty="0">
              <a:latin typeface="+mj-ea"/>
              <a:ea typeface="+mj-ea"/>
            </a:endParaRPr>
          </a:p>
          <a:p>
            <a:r>
              <a:rPr sz="1600" dirty="0">
                <a:latin typeface="+mj-ea"/>
                <a:ea typeface="+mj-ea"/>
              </a:rPr>
              <a:t>・</a:t>
            </a:r>
            <a:r>
              <a:rPr lang="ja-JP" altLang="en-US" sz="1600" dirty="0">
                <a:latin typeface="+mj-ea"/>
                <a:ea typeface="+mj-ea"/>
              </a:rPr>
              <a:t>実運用想定での最適化</a:t>
            </a:r>
            <a:endParaRPr sz="1600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5572" y="3103295"/>
            <a:ext cx="46281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ja-JP" sz="1600" dirty="0">
                <a:latin typeface="+mj-ea"/>
                <a:ea typeface="+mj-ea"/>
              </a:rPr>
              <a:t>YOLO</a:t>
            </a:r>
            <a:r>
              <a:rPr lang="en-US" altLang="ja-JP" sz="1600" baseline="30000" dirty="0">
                <a:latin typeface="+mj-ea"/>
                <a:ea typeface="+mj-ea"/>
              </a:rPr>
              <a:t>※1</a:t>
            </a:r>
            <a:r>
              <a:rPr lang="ja-JP" altLang="en-US" sz="1600" dirty="0">
                <a:latin typeface="+mj-ea"/>
                <a:ea typeface="+mj-ea"/>
              </a:rPr>
              <a:t>を使用したリアルタイム物体検出システム。</a:t>
            </a:r>
          </a:p>
          <a:p>
            <a:r>
              <a:rPr lang="ja-JP" altLang="en-US" sz="1600" dirty="0">
                <a:latin typeface="+mj-ea"/>
                <a:ea typeface="+mj-ea"/>
              </a:rPr>
              <a:t>人物検出・距離推定に対応。</a:t>
            </a:r>
            <a:endParaRPr lang="en-US" altLang="ja-JP" sz="1600" dirty="0">
              <a:latin typeface="+mj-ea"/>
              <a:ea typeface="+mj-ea"/>
            </a:endParaRPr>
          </a:p>
        </p:txBody>
      </p:sp>
      <p:pic>
        <p:nvPicPr>
          <p:cNvPr id="1026" name="Picture 2" descr="GitHub:協働型ソフトウェア開発の革新">
            <a:extLst>
              <a:ext uri="{FF2B5EF4-FFF2-40B4-BE49-F238E27FC236}">
                <a16:creationId xmlns:a16="http://schemas.microsoft.com/office/drawing/2014/main" id="{D5821992-F989-B2D8-6B10-C75691F1C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2" t="14281" r="10280" b="16041"/>
          <a:stretch/>
        </p:blipFill>
        <p:spPr bwMode="auto">
          <a:xfrm>
            <a:off x="10261158" y="6201480"/>
            <a:ext cx="1717482" cy="56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図 1024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8AF02C6-1C69-EFD6-C1CC-8EA5B1BAD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29" y="1144538"/>
            <a:ext cx="1298143" cy="1298143"/>
          </a:xfrm>
          <a:prstGeom prst="rect">
            <a:avLst/>
          </a:prstGeom>
        </p:spPr>
      </p:pic>
      <p:pic>
        <p:nvPicPr>
          <p:cNvPr id="1030" name="図 1029" descr="テーブル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EB3257E-DE90-131A-E210-4F1C13888B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853" t="6988" r="8031"/>
          <a:stretch/>
        </p:blipFill>
        <p:spPr>
          <a:xfrm>
            <a:off x="758752" y="4065649"/>
            <a:ext cx="1980915" cy="1703559"/>
          </a:xfrm>
          <a:prstGeom prst="rect">
            <a:avLst/>
          </a:prstGeom>
        </p:spPr>
      </p:pic>
      <p:pic>
        <p:nvPicPr>
          <p:cNvPr id="1031" name="Picture 4" descr="顔認証・人物検出でできること｜システム・ケイ AI">
            <a:extLst>
              <a:ext uri="{FF2B5EF4-FFF2-40B4-BE49-F238E27FC236}">
                <a16:creationId xmlns:a16="http://schemas.microsoft.com/office/drawing/2014/main" id="{90C25BFB-5CD7-F5BA-7849-E04AAAC2A8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7"/>
          <a:stretch/>
        </p:blipFill>
        <p:spPr bwMode="auto">
          <a:xfrm>
            <a:off x="3216047" y="4062135"/>
            <a:ext cx="2053564" cy="170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TextBox 17">
            <a:extLst>
              <a:ext uri="{FF2B5EF4-FFF2-40B4-BE49-F238E27FC236}">
                <a16:creationId xmlns:a16="http://schemas.microsoft.com/office/drawing/2014/main" id="{3A049228-4306-EAB8-53FA-0316B2A8C799}"/>
              </a:ext>
            </a:extLst>
          </p:cNvPr>
          <p:cNvSpPr txBox="1"/>
          <p:nvPr/>
        </p:nvSpPr>
        <p:spPr>
          <a:xfrm>
            <a:off x="6309360" y="4879975"/>
            <a:ext cx="21739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latin typeface="+mj-ea"/>
                <a:ea typeface="+mj-ea"/>
              </a:rPr>
              <a:t>・</a:t>
            </a:r>
            <a:r>
              <a:rPr lang="ja-JP" altLang="en-US" sz="1600" dirty="0">
                <a:latin typeface="+mj-ea"/>
                <a:ea typeface="+mj-ea"/>
              </a:rPr>
              <a:t>タイヤ認識</a:t>
            </a:r>
            <a:endParaRPr sz="1600" dirty="0">
              <a:latin typeface="+mj-ea"/>
              <a:ea typeface="+mj-ea"/>
            </a:endParaRPr>
          </a:p>
          <a:p>
            <a:r>
              <a:rPr sz="1600" dirty="0">
                <a:latin typeface="+mj-ea"/>
                <a:ea typeface="+mj-ea"/>
              </a:rPr>
              <a:t>・</a:t>
            </a:r>
            <a:r>
              <a:rPr lang="ja-JP" altLang="en-US" sz="1600" dirty="0">
                <a:latin typeface="+mj-ea"/>
                <a:ea typeface="+mj-ea"/>
              </a:rPr>
              <a:t>ジャッキポイント認識</a:t>
            </a:r>
            <a:endParaRPr sz="1600" dirty="0">
              <a:latin typeface="+mj-ea"/>
              <a:ea typeface="+mj-ea"/>
            </a:endParaRPr>
          </a:p>
          <a:p>
            <a:r>
              <a:rPr sz="1600" dirty="0">
                <a:latin typeface="+mj-ea"/>
                <a:ea typeface="+mj-ea"/>
              </a:rPr>
              <a:t>・</a:t>
            </a:r>
            <a:r>
              <a:rPr lang="ja-JP" altLang="en-US" sz="1600" dirty="0">
                <a:latin typeface="+mj-ea"/>
                <a:ea typeface="+mj-ea"/>
              </a:rPr>
              <a:t>人追尾</a:t>
            </a:r>
            <a:endParaRPr lang="en-US" altLang="ja-JP" sz="1600" dirty="0">
              <a:latin typeface="+mj-ea"/>
              <a:ea typeface="+mj-ea"/>
            </a:endParaRPr>
          </a:p>
        </p:txBody>
      </p:sp>
      <p:sp>
        <p:nvSpPr>
          <p:cNvPr id="1033" name="TextBox 17">
            <a:extLst>
              <a:ext uri="{FF2B5EF4-FFF2-40B4-BE49-F238E27FC236}">
                <a16:creationId xmlns:a16="http://schemas.microsoft.com/office/drawing/2014/main" id="{459D893B-C742-451C-1832-6697EC90662F}"/>
              </a:ext>
            </a:extLst>
          </p:cNvPr>
          <p:cNvSpPr txBox="1"/>
          <p:nvPr/>
        </p:nvSpPr>
        <p:spPr>
          <a:xfrm>
            <a:off x="6309360" y="3136612"/>
            <a:ext cx="38074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 sz="1600" dirty="0">
                <a:latin typeface="+mj-ea"/>
                <a:ea typeface="+mj-ea"/>
              </a:rPr>
              <a:t> ・ 人検知による、リフト安全性向上の実現</a:t>
            </a:r>
            <a:endParaRPr lang="en-US" altLang="ja-JP" sz="1600" dirty="0">
              <a:latin typeface="+mj-ea"/>
              <a:ea typeface="+mj-ea"/>
            </a:endParaRPr>
          </a:p>
          <a:p>
            <a:r>
              <a:rPr lang="ja-JP" altLang="en-US" sz="1600" dirty="0">
                <a:latin typeface="+mj-ea"/>
                <a:ea typeface="+mj-ea"/>
              </a:rPr>
              <a:t> ・ </a:t>
            </a:r>
            <a:r>
              <a:rPr lang="en-US" altLang="ja-JP" sz="1600" dirty="0">
                <a:latin typeface="+mj-ea"/>
                <a:ea typeface="+mj-ea"/>
              </a:rPr>
              <a:t>AMR</a:t>
            </a:r>
            <a:r>
              <a:rPr lang="ja-JP" altLang="en-US" sz="1600" dirty="0">
                <a:latin typeface="+mj-ea"/>
                <a:ea typeface="+mj-ea"/>
              </a:rPr>
              <a:t>パレット認識の実現</a:t>
            </a:r>
            <a:endParaRPr sz="1600" dirty="0">
              <a:latin typeface="+mj-ea"/>
              <a:ea typeface="+mj-ea"/>
            </a:endParaRPr>
          </a:p>
        </p:txBody>
      </p:sp>
      <p:sp>
        <p:nvSpPr>
          <p:cNvPr id="1034" name="Rounded Rectangle 1">
            <a:extLst>
              <a:ext uri="{FF2B5EF4-FFF2-40B4-BE49-F238E27FC236}">
                <a16:creationId xmlns:a16="http://schemas.microsoft.com/office/drawing/2014/main" id="{21EA48DE-0495-724A-B640-25483C6D9E8A}"/>
              </a:ext>
            </a:extLst>
          </p:cNvPr>
          <p:cNvSpPr/>
          <p:nvPr/>
        </p:nvSpPr>
        <p:spPr>
          <a:xfrm>
            <a:off x="3216047" y="3740993"/>
            <a:ext cx="2053564" cy="277397"/>
          </a:xfrm>
          <a:prstGeom prst="roundRect">
            <a:avLst/>
          </a:prstGeom>
          <a:solidFill>
            <a:srgbClr val="0D1B4C"/>
          </a:solidFill>
          <a:ln>
            <a:solidFill>
              <a:srgbClr val="0D1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動作イメージ</a:t>
            </a:r>
            <a:endParaRPr sz="1600" dirty="0"/>
          </a:p>
        </p:txBody>
      </p:sp>
      <p:sp>
        <p:nvSpPr>
          <p:cNvPr id="1035" name="Rounded Rectangle 1">
            <a:extLst>
              <a:ext uri="{FF2B5EF4-FFF2-40B4-BE49-F238E27FC236}">
                <a16:creationId xmlns:a16="http://schemas.microsoft.com/office/drawing/2014/main" id="{88DED880-1733-0660-755F-44459AEF0532}"/>
              </a:ext>
            </a:extLst>
          </p:cNvPr>
          <p:cNvSpPr/>
          <p:nvPr/>
        </p:nvSpPr>
        <p:spPr>
          <a:xfrm>
            <a:off x="758752" y="3740993"/>
            <a:ext cx="1980915" cy="277397"/>
          </a:xfrm>
          <a:prstGeom prst="roundRect">
            <a:avLst/>
          </a:prstGeom>
          <a:solidFill>
            <a:srgbClr val="0D1B4C"/>
          </a:solidFill>
          <a:ln>
            <a:solidFill>
              <a:srgbClr val="0D1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動作環境</a:t>
            </a:r>
            <a:endParaRPr sz="1600" dirty="0"/>
          </a:p>
        </p:txBody>
      </p:sp>
      <p:sp>
        <p:nvSpPr>
          <p:cNvPr id="1036" name="TextBox 18">
            <a:extLst>
              <a:ext uri="{FF2B5EF4-FFF2-40B4-BE49-F238E27FC236}">
                <a16:creationId xmlns:a16="http://schemas.microsoft.com/office/drawing/2014/main" id="{3C3FE534-EC1F-C98D-BB71-661E04C598F4}"/>
              </a:ext>
            </a:extLst>
          </p:cNvPr>
          <p:cNvSpPr txBox="1"/>
          <p:nvPr/>
        </p:nvSpPr>
        <p:spPr>
          <a:xfrm>
            <a:off x="320040" y="6035039"/>
            <a:ext cx="60051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ja-JP" sz="1200" dirty="0">
                <a:latin typeface="+mj-ea"/>
                <a:ea typeface="+mj-ea"/>
              </a:rPr>
              <a:t>※1</a:t>
            </a:r>
            <a:r>
              <a:rPr lang="ja-JP" altLang="en-US" sz="1200" dirty="0">
                <a:latin typeface="+mj-ea"/>
                <a:ea typeface="+mj-ea"/>
              </a:rPr>
              <a:t>：</a:t>
            </a:r>
            <a:r>
              <a:rPr lang="en-US" altLang="ja-JP" sz="1200" dirty="0">
                <a:latin typeface="+mj-ea"/>
                <a:ea typeface="+mj-ea"/>
              </a:rPr>
              <a:t>You Only Look Once</a:t>
            </a:r>
            <a:r>
              <a:rPr lang="ja-JP" altLang="en-US" sz="1200" dirty="0">
                <a:latin typeface="+mj-ea"/>
                <a:ea typeface="+mj-ea"/>
              </a:rPr>
              <a:t>の略称で画像の中にある物体をリアルタイムで認識する</a:t>
            </a:r>
            <a:r>
              <a:rPr lang="en-US" altLang="ja-JP" sz="1200" dirty="0">
                <a:latin typeface="+mj-ea"/>
                <a:ea typeface="+mj-ea"/>
              </a:rPr>
              <a:t>AI</a:t>
            </a:r>
            <a:r>
              <a:rPr lang="ja-JP" altLang="en-US" sz="1200" dirty="0">
                <a:latin typeface="+mj-ea"/>
                <a:ea typeface="+mj-ea"/>
              </a:rPr>
              <a:t>モデル</a:t>
            </a:r>
            <a:endParaRPr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124</Words>
  <Application>Microsoft Office PowerPoint</Application>
  <PresentationFormat>ユーザー設定</PresentationFormat>
  <Paragraphs>24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CAD</dc:creator>
  <cp:keywords/>
  <dc:description>generated using python-pptx</dc:description>
  <cp:lastModifiedBy>CG10</cp:lastModifiedBy>
  <cp:revision>4</cp:revision>
  <cp:lastPrinted>2026-05-28T01:14:45Z</cp:lastPrinted>
  <dcterms:created xsi:type="dcterms:W3CDTF">2013-01-27T09:14:16Z</dcterms:created>
  <dcterms:modified xsi:type="dcterms:W3CDTF">2026-05-28T01:47:31Z</dcterms:modified>
  <cp:category/>
</cp:coreProperties>
</file>